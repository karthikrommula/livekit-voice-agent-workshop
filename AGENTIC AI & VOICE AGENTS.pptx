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92" r:id="rId2"/>
    <p:sldId id="284" r:id="rId3"/>
    <p:sldId id="300" r:id="rId4"/>
    <p:sldId id="301" r:id="rId5"/>
    <p:sldId id="302" r:id="rId6"/>
    <p:sldId id="303" r:id="rId7"/>
    <p:sldId id="285" r:id="rId8"/>
    <p:sldId id="287" r:id="rId9"/>
    <p:sldId id="288" r:id="rId10"/>
    <p:sldId id="289" r:id="rId11"/>
    <p:sldId id="290" r:id="rId12"/>
    <p:sldId id="293" r:id="rId13"/>
    <p:sldId id="291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85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5966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F4BC48-C368-D729-7870-C271867E8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789BD5-9F74-68C3-731F-9C3BF7753D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B32488-48E9-E8EF-301E-90B3448CFA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6B3074-918A-61F3-4E6C-7FCEBF22A8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951011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E1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7640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&amp; VOICE AGENTS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274320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Your First Voice Agent, Hands-On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731520" y="41910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3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Karthik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4800600"/>
            <a:ext cx="128016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31520" y="50546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3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90-minute session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708419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32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— 90 MINUTES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EC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We'll Spend Today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1064240" cy="530352"/>
          </a:xfrm>
          <a:prstGeom prst="rect">
            <a:avLst/>
          </a:prstGeom>
          <a:solidFill>
            <a:srgbClr val="171C2E"/>
          </a:solidFill>
          <a:ln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5" name="Text 3"/>
          <p:cNvSpPr/>
          <p:nvPr/>
        </p:nvSpPr>
        <p:spPr>
          <a:xfrm>
            <a:off x="777240" y="1965960"/>
            <a:ext cx="1828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 – 0:05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0" y="1965960"/>
            <a:ext cx="8686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+ About Me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496312"/>
            <a:ext cx="1828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0:05 – 0:25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0" y="2496312"/>
            <a:ext cx="8686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E8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intellioai.in + Startup journey  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026664"/>
            <a:ext cx="11064240" cy="530352"/>
          </a:xfrm>
          <a:prstGeom prst="rect">
            <a:avLst/>
          </a:prstGeom>
          <a:solidFill>
            <a:srgbClr val="171C2E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77240" y="3026664"/>
            <a:ext cx="1828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0:25 – 0:35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0" y="3026664"/>
            <a:ext cx="8686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voice agent? Cascade vs realtime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3557016"/>
            <a:ext cx="1828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0:35 – 0:40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743200" y="3557016"/>
            <a:ext cx="8686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LiveKit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087368"/>
            <a:ext cx="11064240" cy="530352"/>
          </a:xfrm>
          <a:prstGeom prst="rect">
            <a:avLst/>
          </a:prstGeom>
          <a:solidFill>
            <a:srgbClr val="171C2E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777240" y="4087368"/>
            <a:ext cx="1828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0:40 – 0:50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743200" y="4087368"/>
            <a:ext cx="8686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walkthrough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77240" y="4617720"/>
            <a:ext cx="1828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0:50 – 1:20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743200" y="4617720"/>
            <a:ext cx="8686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Hands-on: build your own voice agent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5148072"/>
            <a:ext cx="11064240" cy="530352"/>
          </a:xfrm>
          <a:prstGeom prst="rect">
            <a:avLst/>
          </a:prstGeom>
          <a:solidFill>
            <a:srgbClr val="171C2E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777240" y="5148072"/>
            <a:ext cx="1828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1:20 – 1:25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743200" y="5148072"/>
            <a:ext cx="8686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show &amp; tell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77240" y="5678424"/>
            <a:ext cx="1828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1:25 – 1:30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743200" y="5678424"/>
            <a:ext cx="8686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Wrap-up, resources, Q&amp;A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&amp; Voice Agents Workshop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9711843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32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UP — BEGINNER LEVEL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EC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Nobody Tells You at Zero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411480" cy="41148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20574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2011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hands you a brief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88720" y="239572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A9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comes from noticing something that annoys you, not from being assigned it.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108960"/>
            <a:ext cx="411480" cy="41148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48640" y="3108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30632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 beats motivation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188720" y="344728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A9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an hour every day compounds faster than a heroic weekend once a month.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411480" cy="41148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48640" y="4160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is part of the job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188720" y="449884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A9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knowing the next step is normal. Freezing until it becomes obvious is the real risk.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5212080"/>
            <a:ext cx="411480" cy="41148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48640" y="5212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51663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false starts are invisible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188720" y="555040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A9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stumbles you replay in your head are the ones nobody else ever notices.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&amp; Voice Agents Workshop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52144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0129209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32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&amp; PROBLEM STATEMENT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EC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You Write Any Code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411480" cy="41148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20574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2011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lean, before you're ready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88720" y="239572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A9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 constraints force you to think clearly about what actually matters.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108960"/>
            <a:ext cx="411480" cy="41148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48640" y="3108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30632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one problem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188720" y="344728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A9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person, name the pain. Vague ambitions cannot be tested.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411480" cy="41148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48640" y="4160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need permission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188720" y="449884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A9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title, budget or mandate is required to build the first version.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5212080"/>
            <a:ext cx="411480" cy="41148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48640" y="5212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51663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just enough to move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188720" y="555040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A9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one page you can act on this week, then get moving.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&amp; Voice Agents Workshop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52144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8584751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32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 &amp; FEEDBACK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EC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Ship, Listen, Repeat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411480" cy="41148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20574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2011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one will embarrass you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88720" y="239572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A9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it anyway. Every version after this one is informed by reality.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108960"/>
            <a:ext cx="411480" cy="41148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48640" y="3108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30632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one real user first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188720" y="344728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A9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with the problem in front of them will tell you what to build next.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411480" cy="41148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48640" y="4160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feedback loop, not a guess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188720" y="449884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A9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the product so usage answers your questions for you.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5212080"/>
            <a:ext cx="411480" cy="41148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48640" y="5212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51663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before you assume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188720" y="555040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A9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ten minutes checking whether the problem has already been solved.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&amp; Voice Agents Workshop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52144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7998510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32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&amp; TEAM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EC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Right Tools, Right People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411480" cy="41148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20574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2011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boring, proven tech first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88720" y="239572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A9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 tools come with documentation, communities and very few surprises.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108960"/>
            <a:ext cx="411480" cy="41148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48640" y="3108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30632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complexity only when it earns its place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188720" y="344728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A9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what each new layer buys you before you agree to maintain it.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411480" cy="41148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48640" y="4160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 for your gaps, not your mirror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188720" y="449884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A9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 the skills you lack, not for people who think exactly as you do.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5212080"/>
            <a:ext cx="411480" cy="41148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48640" y="5212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51663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team, tight feedback loop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188720" y="555040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A9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people in one room can decide in an hour what a committee debates for a month.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&amp; Voice Agents Workshop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52144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8419987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32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RECAP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EC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an AI Agent, Really?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1965960" cy="1005840"/>
          </a:xfrm>
          <a:prstGeom prst="roundRect">
            <a:avLst>
              <a:gd name="adj" fmla="val 9091"/>
            </a:avLst>
          </a:prstGeom>
          <a:solidFill>
            <a:srgbClr val="1A2142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48640" y="2834640"/>
            <a:ext cx="1965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514600" y="2834640"/>
            <a:ext cx="228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A9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743200" y="2834640"/>
            <a:ext cx="1965960" cy="1005840"/>
          </a:xfrm>
          <a:prstGeom prst="roundRect">
            <a:avLst>
              <a:gd name="adj" fmla="val 9091"/>
            </a:avLst>
          </a:prstGeom>
          <a:solidFill>
            <a:srgbClr val="1A2142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743200" y="2834640"/>
            <a:ext cx="1965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709160" y="2834640"/>
            <a:ext cx="228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A9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937760" y="2834640"/>
            <a:ext cx="1965960" cy="1005840"/>
          </a:xfrm>
          <a:prstGeom prst="roundRect">
            <a:avLst>
              <a:gd name="adj" fmla="val 9091"/>
            </a:avLst>
          </a:prstGeom>
          <a:solidFill>
            <a:srgbClr val="1A2142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937760" y="2834640"/>
            <a:ext cx="1965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903720" y="2834640"/>
            <a:ext cx="228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A9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132320" y="2834640"/>
            <a:ext cx="1965960" cy="1005840"/>
          </a:xfrm>
          <a:prstGeom prst="roundRect">
            <a:avLst>
              <a:gd name="adj" fmla="val 9091"/>
            </a:avLst>
          </a:prstGeom>
          <a:solidFill>
            <a:srgbClr val="1A2142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7132320" y="2834640"/>
            <a:ext cx="1965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098280" y="2834640"/>
            <a:ext cx="228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A9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9326880" y="2834640"/>
            <a:ext cx="1965960" cy="1005840"/>
          </a:xfrm>
          <a:prstGeom prst="roundRect">
            <a:avLst>
              <a:gd name="adj" fmla="val 9091"/>
            </a:avLst>
          </a:prstGeom>
          <a:solidFill>
            <a:srgbClr val="4F46E5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9326880" y="2834640"/>
            <a:ext cx="1965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8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&amp; Voice Agents Workshop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52144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9396018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32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EC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Voice Agent?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9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tight, real-time loop of four things — fast enough that it never feels like a broken phone line.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2651760" cy="2377440"/>
          </a:xfrm>
          <a:prstGeom prst="roundRect">
            <a:avLst>
              <a:gd name="adj" fmla="val 3846"/>
            </a:avLst>
          </a:prstGeom>
          <a:solidFill>
            <a:srgbClr val="1A2142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31520" y="29718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47472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the student's voice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83280" y="2743200"/>
            <a:ext cx="2651760" cy="2377440"/>
          </a:xfrm>
          <a:prstGeom prst="roundRect">
            <a:avLst>
              <a:gd name="adj" fmla="val 3846"/>
            </a:avLst>
          </a:prstGeom>
          <a:solidFill>
            <a:srgbClr val="1A2142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566160" y="29718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566160" y="347472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speech into words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2743200"/>
            <a:ext cx="2651760" cy="2377440"/>
          </a:xfrm>
          <a:prstGeom prst="roundRect">
            <a:avLst>
              <a:gd name="adj" fmla="val 3846"/>
            </a:avLst>
          </a:prstGeom>
          <a:solidFill>
            <a:srgbClr val="1A2142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400800" y="29718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00800" y="347472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what to say back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052560" y="2743200"/>
            <a:ext cx="2651760" cy="2377440"/>
          </a:xfrm>
          <a:prstGeom prst="roundRect">
            <a:avLst>
              <a:gd name="adj" fmla="val 3846"/>
            </a:avLst>
          </a:prstGeom>
          <a:solidFill>
            <a:srgbClr val="1A2142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9235440" y="29718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235440" y="347472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the reply into audio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53949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9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...on a loop, every few hundred milliseconds, for the whole conversation.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&amp; Voice Agents Workshop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52144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9902548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32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EC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Cascade vs. Realtime — Two Ways to Build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1A2142"/>
          </a:solidFill>
          <a:ln w="2540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  (today's build)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6060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STT  →  LLM  →  TTS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320040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A9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Three separate, swappable stages
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A9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You can see exactly where a problem lives
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A9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Best for learning the fundamentals
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A9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What we're building today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217920" y="196596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12172A"/>
          </a:solidFill>
          <a:ln w="1270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492240" y="21945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A9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REALTIME  (speech-to-speech)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92240" y="26060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model, one connection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320040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A9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 feel more natural, lower latency
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A9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Less visibility into each stage
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A9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 have undocumented quirks (see War Story 2!)
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A9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Worth learning after cascade clicks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&amp; Voice Agents Workshop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52144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0917261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32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EC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LiveKit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9659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9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LiveKit wires the whole pipeline together — the real-time audio connection between you and your agent, plus a framework to plug in any STT, LLM, or TTS provider.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3108960"/>
            <a:ext cx="3520440" cy="2377440"/>
          </a:xfrm>
          <a:prstGeom prst="roundRect">
            <a:avLst>
              <a:gd name="adj" fmla="val 3846"/>
            </a:avLst>
          </a:prstGeom>
          <a:solidFill>
            <a:srgbClr val="1A2142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77240" y="333756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to start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3931920"/>
            <a:ext cx="30632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DC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credit card needed for the free tier.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297680" y="3108960"/>
            <a:ext cx="3520440" cy="2377440"/>
          </a:xfrm>
          <a:prstGeom prst="roundRect">
            <a:avLst>
              <a:gd name="adj" fmla="val 3846"/>
            </a:avLst>
          </a:prstGeom>
          <a:solidFill>
            <a:srgbClr val="1A2142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526280" y="333756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Browser-based testing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26280" y="3931920"/>
            <a:ext cx="30632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DC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Playground — talk to your agent with just a mic.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046720" y="3108960"/>
            <a:ext cx="3520440" cy="2377440"/>
          </a:xfrm>
          <a:prstGeom prst="roundRect">
            <a:avLst>
              <a:gd name="adj" fmla="val 3846"/>
            </a:avLst>
          </a:prstGeom>
          <a:solidFill>
            <a:srgbClr val="1A2142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8275320" y="333756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275320" y="3931920"/>
            <a:ext cx="30632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DC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framework powering real deployed voice agents.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&amp; Voice Agents Workshop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52144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6271329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32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HANDS-ON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EC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Repo for Today</a:t>
            </a:r>
            <a:endParaRPr lang="en-US" sz="3400" dirty="0"/>
          </a:p>
        </p:txBody>
      </p:sp>
      <p:sp>
        <p:nvSpPr>
          <p:cNvPr id="25" name="Text 23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&amp; Voice Agents Workshop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52144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D54EF76A-2D47-C19B-F4DD-A9C172D0B2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1900" y="1950720"/>
            <a:ext cx="4343400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5425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320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6E1D69-FABA-F255-62A7-EDD2980D4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AF5302E-0C3F-BADD-EE62-6B41FEF8F4BF}"/>
              </a:ext>
            </a:extLst>
          </p:cNvPr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20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TODAY'S HANDS-ON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3F3F2D8-3A0D-7ECB-D72C-113F62A25E40}"/>
              </a:ext>
            </a:extLst>
          </p:cNvPr>
          <p:cNvSpPr/>
          <p:nvPr/>
        </p:nvSpPr>
        <p:spPr>
          <a:xfrm>
            <a:off x="548640" y="82296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E8ECF7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Drop your ideas !!!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58EF6F8F-E219-E5AF-44CB-EFDDF99E1A0C}"/>
              </a:ext>
            </a:extLst>
          </p:cNvPr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A9B2C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&amp; Voice Agents Workshop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C8DD05BB-6673-6007-E8FA-38FFE4AA2885}"/>
              </a:ext>
            </a:extLst>
          </p:cNvPr>
          <p:cNvSpPr/>
          <p:nvPr/>
        </p:nvSpPr>
        <p:spPr>
          <a:xfrm>
            <a:off x="1152144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A9B2C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016F04-4CA9-3926-CCFD-7319D9FA23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3978" y="1626978"/>
            <a:ext cx="3604044" cy="3604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8031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E1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731520" y="35661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3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Find me after the session.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1985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https://www.linkedin.com/in/karthikrommula/</a:t>
            </a:r>
            <a:endParaRPr lang="en-US" sz="1400" dirty="0">
              <a:solidFill>
                <a:srgbClr val="19859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81823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223D571-6AF6-4618-BD48-8D23CF276FF0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6d6d26cc-1c75-4afa-aec5-d795fa390add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833</Words>
  <Application>Microsoft Office PowerPoint</Application>
  <PresentationFormat>Widescreen</PresentationFormat>
  <Paragraphs>166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ROMMULA KARTHIK</cp:lastModifiedBy>
  <cp:revision>4</cp:revision>
  <dcterms:created xsi:type="dcterms:W3CDTF">2026-07-31T19:07:49Z</dcterms:created>
  <dcterms:modified xsi:type="dcterms:W3CDTF">2026-07-31T20:04:28Z</dcterms:modified>
</cp:coreProperties>
</file>